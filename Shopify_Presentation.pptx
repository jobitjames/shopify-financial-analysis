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6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rts/chart7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7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91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sq-AL" sz="1200" b="0" i="0" u="none" strike="noStrike" dirty="0">
                <a:solidFill>
                  <a:srgbClr val="FFFFFF"/>
                </a:solidFill>
                <a:latin typeface="Arial"/>
              </a:rPr>
              <a:t>Annual Revenue Growth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4611</c:v>
                </c:pt>
                <c:pt idx="1">
                  <c:v>5600</c:v>
                </c:pt>
                <c:pt idx="2">
                  <c:v>7060</c:v>
                </c:pt>
                <c:pt idx="3">
                  <c:v>8880</c:v>
                </c:pt>
                <c:pt idx="4">
                  <c:v>11556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1F-448C-85B0-CB4BDC7721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2137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US E-Commerce Platform Market Share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 Market 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CF6-4D7E-8A8F-18BC7F273D37}"/>
              </c:ext>
            </c:extLst>
          </c:dPt>
          <c:dPt>
            <c:idx val="1"/>
            <c:bubble3D val="0"/>
            <c:spPr>
              <a:solidFill>
                <a:srgbClr val="2ECC7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F6-4D7E-8A8F-18BC7F273D37}"/>
              </c:ext>
            </c:extLst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CF6-4D7E-8A8F-18BC7F273D37}"/>
              </c:ext>
            </c:extLst>
          </c:dPt>
          <c:dPt>
            <c:idx val="3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CF6-4D7E-8A8F-18BC7F273D37}"/>
              </c:ext>
            </c:extLst>
          </c:dPt>
          <c:dPt>
            <c:idx val="4"/>
            <c:bubble3D val="0"/>
            <c:spPr>
              <a:solidFill>
                <a:srgbClr val="95A5A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CF6-4D7E-8A8F-18BC7F273D3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CF6-4D7E-8A8F-18BC7F273D3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CF6-4D7E-8A8F-18BC7F273D3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CF6-4D7E-8A8F-18BC7F273D3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ECF6-4D7E-8A8F-18BC7F273D37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ECF6-4D7E-8A8F-18BC7F273D3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Shopify</c:v>
                </c:pt>
                <c:pt idx="1">
                  <c:v>Wix Stores</c:v>
                </c:pt>
                <c:pt idx="2">
                  <c:v>WooCommerce</c:v>
                </c:pt>
                <c:pt idx="3">
                  <c:v>Squarespace</c:v>
                </c:pt>
                <c:pt idx="4">
                  <c:v>Others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23</c:v>
                </c:pt>
                <c:pt idx="2">
                  <c:v>14</c:v>
                </c:pt>
                <c:pt idx="3">
                  <c:v>16</c:v>
                </c:pt>
                <c:pt idx="4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ECF6-4D7E-8A8F-18BC7F273D3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Margin (%)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C00-4C78-B3B3-7CFD46C0680F}"/>
              </c:ext>
            </c:extLst>
          </c:dPt>
          <c:dPt>
            <c:idx val="1"/>
            <c:invertIfNegative val="0"/>
            <c:bubble3D val="0"/>
            <c:spPr>
              <a:solidFill>
                <a:srgbClr val="1A6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C00-4C78-B3B3-7CFD46C0680F}"/>
              </c:ext>
            </c:extLst>
          </c:dPt>
          <c:dPt>
            <c:idx val="2"/>
            <c:invertIfNegative val="0"/>
            <c:bubble3D val="0"/>
            <c:spPr>
              <a:solidFill>
                <a:srgbClr val="0D5A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C00-4C78-B3B3-7CFD46C0680F}"/>
              </c:ext>
            </c:extLst>
          </c:dPt>
          <c:dPt>
            <c:idx val="3"/>
            <c:invertIfNegative val="0"/>
            <c:bubble3D val="0"/>
            <c:spPr>
              <a:solidFill>
                <a:srgbClr val="1A3A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C00-4C78-B3B3-7CFD46C0680F}"/>
              </c:ext>
            </c:extLst>
          </c:dPt>
          <c:dPt>
            <c:idx val="4"/>
            <c:invertIfNegative val="0"/>
            <c:bubble3D val="0"/>
            <c:spPr>
              <a:solidFill>
                <a:srgbClr val="0A2A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C00-4C78-B3B3-7CFD46C0680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Gross Profit
Margin</c:v>
                </c:pt>
                <c:pt idx="1">
                  <c:v>Operating
Margin</c:v>
                </c:pt>
                <c:pt idx="2">
                  <c:v>Net Profit
Margin</c:v>
                </c:pt>
                <c:pt idx="3">
                  <c:v>ROA</c:v>
                </c:pt>
                <c:pt idx="4">
                  <c:v>ROE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48.1</c:v>
                </c:pt>
                <c:pt idx="1">
                  <c:v>16.3</c:v>
                </c:pt>
                <c:pt idx="2">
                  <c:v>10.7</c:v>
                </c:pt>
                <c:pt idx="3">
                  <c:v>8.1</c:v>
                </c:pt>
                <c:pt idx="4">
                  <c:v>9.1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C00-4C78-B3B3-7CFD46C0680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CF0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000000"/>
                </a:solidFill>
                <a:latin typeface="Arial"/>
              </a:rPr>
              <a:t>Free Cash Flow ($M) — 4 Year Trend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 ($M)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B5A-4B62-A816-5C240D876C8A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B5A-4B62-A816-5C240D876C8A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B5A-4B62-A816-5C240D876C8A}"/>
              </c:ext>
            </c:extLst>
          </c:dPt>
          <c:dPt>
            <c:idx val="3"/>
            <c:invertIfNegative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B5A-4B62-A816-5C240D876C8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FY2022</c:v>
                </c:pt>
                <c:pt idx="1">
                  <c:v>FY2023</c:v>
                </c:pt>
                <c:pt idx="2">
                  <c:v>FY2024</c:v>
                </c:pt>
                <c:pt idx="3">
                  <c:v>FY2025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-374</c:v>
                </c:pt>
                <c:pt idx="1">
                  <c:v>905</c:v>
                </c:pt>
                <c:pt idx="2">
                  <c:v>1597</c:v>
                </c:pt>
                <c:pt idx="3">
                  <c:v>2007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B5A-4B62-A816-5C240D876C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CF0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sq-AL" sz="1100" b="0" i="0" u="none" strike="noStrike">
                <a:solidFill>
                  <a:srgbClr val="FFFFFF"/>
                </a:solidFill>
                <a:latin typeface="Arial"/>
              </a:rPr>
              <a:t>5-Year FCF Projection ($M)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Projected FCF ($M)</c:v>
                </c:pt>
              </c:strCache>
            </c:strRef>
          </c:tx>
          <c:spPr>
            <a:ln w="38100" cap="flat">
              <a:solidFill>
                <a:srgbClr val="00B4D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0B4D8"/>
              </a:solidFill>
              <a:ln w="9525" cap="flat">
                <a:solidFill>
                  <a:srgbClr val="00B4D8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FY2025A</c:v>
                </c:pt>
                <c:pt idx="1">
                  <c:v>FY2026E</c:v>
                </c:pt>
                <c:pt idx="2">
                  <c:v>FY2027E</c:v>
                </c:pt>
                <c:pt idx="3">
                  <c:v>FY2028E</c:v>
                </c:pt>
                <c:pt idx="4">
                  <c:v>FY2029E</c:v>
                </c:pt>
                <c:pt idx="5">
                  <c:v>FY2030E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2007</c:v>
                </c:pt>
                <c:pt idx="1">
                  <c:v>2569</c:v>
                </c:pt>
                <c:pt idx="2">
                  <c:v>3211</c:v>
                </c:pt>
                <c:pt idx="3">
                  <c:v>3918</c:v>
                </c:pt>
                <c:pt idx="4">
                  <c:v>4662</c:v>
                </c:pt>
                <c:pt idx="5">
                  <c:v>5408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96A-455C-A3AF-4BC0868D25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1A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2137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sq-AL" sz="1100" b="0" i="0" u="none" strike="noStrike">
                <a:solidFill>
                  <a:srgbClr val="000000"/>
                </a:solidFill>
                <a:latin typeface="Arial"/>
              </a:rPr>
              <a:t>Price Forecast Comparison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Monte Carlo (30 days)</c:v>
                </c:pt>
              </c:strCache>
            </c:strRef>
          </c:tx>
          <c:spPr>
            <a:solidFill>
              <a:srgbClr val="2E86C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Current Price</c:v>
                </c:pt>
                <c:pt idx="1">
                  <c:v>Mean Forecast</c:v>
                </c:pt>
                <c:pt idx="2">
                  <c:v>Best Case (95th)</c:v>
                </c:pt>
                <c:pt idx="3">
                  <c:v>Worst Case (5th)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118.31</c:v>
                </c:pt>
                <c:pt idx="1">
                  <c:v>126.25</c:v>
                </c:pt>
                <c:pt idx="2">
                  <c:v>174.86</c:v>
                </c:pt>
                <c:pt idx="3">
                  <c:v>88.13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373-4595-8D98-14E43343B9B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FB Prophet (90 days)</c:v>
                </c:pt>
              </c:strCache>
            </c:strRef>
          </c:tx>
          <c:spPr>
            <a:solidFill>
              <a:srgbClr val="1E844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Current Price</c:v>
                </c:pt>
                <c:pt idx="1">
                  <c:v>Mean Forecast</c:v>
                </c:pt>
                <c:pt idx="2">
                  <c:v>Upper Bound</c:v>
                </c:pt>
                <c:pt idx="3">
                  <c:v>Lower Bound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118.31</c:v>
                </c:pt>
                <c:pt idx="1">
                  <c:v>132.27000000000001</c:v>
                </c:pt>
                <c:pt idx="2">
                  <c:v>138.66999999999999</c:v>
                </c:pt>
                <c:pt idx="3">
                  <c:v>125.39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373-4595-8D98-14E43343B9B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CF0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sq-AL" sz="1100" b="0" i="0" u="none" strike="noStrike">
                <a:solidFill>
                  <a:srgbClr val="000000"/>
                </a:solidFill>
                <a:latin typeface="Arial"/>
              </a:rPr>
              <a:t>Revenue &amp; FCF Trend ($M)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ln w="38100" cap="flat">
              <a:solidFill>
                <a:srgbClr val="2E86C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E86C1"/>
              </a:solidFill>
              <a:ln w="9525" cap="flat">
                <a:solidFill>
                  <a:srgbClr val="2E86C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4611</c:v>
                </c:pt>
                <c:pt idx="1">
                  <c:v>5600</c:v>
                </c:pt>
                <c:pt idx="2">
                  <c:v>7060</c:v>
                </c:pt>
                <c:pt idx="3">
                  <c:v>8880</c:v>
                </c:pt>
                <c:pt idx="4">
                  <c:v>11556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17BA-4384-9126-05470763954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FCF</c:v>
                </c:pt>
              </c:strCache>
            </c:strRef>
          </c:tx>
          <c:spPr>
            <a:ln w="38100" cap="flat">
              <a:solidFill>
                <a:srgbClr val="1E844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8449"/>
              </a:solidFill>
              <a:ln w="9525" cap="flat">
                <a:solidFill>
                  <a:srgbClr val="1E8449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FY2021</c:v>
                </c:pt>
                <c:pt idx="1">
                  <c:v>FY2022</c:v>
                </c:pt>
                <c:pt idx="2">
                  <c:v>FY2023</c:v>
                </c:pt>
                <c:pt idx="3">
                  <c:v>FY2024</c:v>
                </c:pt>
                <c:pt idx="4">
                  <c:v>FY2025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-100</c:v>
                </c:pt>
                <c:pt idx="1">
                  <c:v>-374</c:v>
                </c:pt>
                <c:pt idx="2">
                  <c:v>905</c:v>
                </c:pt>
                <c:pt idx="3">
                  <c:v>1597</c:v>
                </c:pt>
                <c:pt idx="4">
                  <c:v>2007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17BA-4384-9126-0547076395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CF0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F8C8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8F9F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98571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498218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>
            <a:extLst>
              <a:ext uri="{FF2B5EF4-FFF2-40B4-BE49-F238E27FC236}">
                <a16:creationId xmlns:a16="http://schemas.microsoft.com/office/drawing/2014/main" id="{DB5EBB97-6FF9-25B8-3FBF-F3619057A32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/>
          <a:stretch>
            <a:fillRect/>
          </a:stretch>
        </p:blipFill>
        <p:spPr/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853967-E417-32A9-4E1B-2A3147725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0D45214-E843-9BF2-F3C1-3ECC707E8025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13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4962812-038B-9F30-928B-4522A9C9DF0B}"/>
              </a:ext>
            </a:extLst>
          </p:cNvPr>
          <p:cNvSpPr/>
          <p:nvPr/>
        </p:nvSpPr>
        <p:spPr>
          <a:xfrm>
            <a:off x="2412652" y="4759642"/>
            <a:ext cx="4306199" cy="2190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788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86AE57-64EC-5713-4F24-904413EBD4EB}"/>
              </a:ext>
            </a:extLst>
          </p:cNvPr>
          <p:cNvSpPr/>
          <p:nvPr/>
        </p:nvSpPr>
        <p:spPr>
          <a:xfrm>
            <a:off x="457200" y="2286000"/>
            <a:ext cx="3590014" cy="914400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788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</a:rPr>
              <a:t>SHOPIFY INC.</a:t>
            </a:r>
            <a:endParaRPr lang="en-US" sz="4400" dirty="0"/>
          </a:p>
        </p:txBody>
      </p:sp>
      <p:sp>
        <p:nvSpPr>
          <p:cNvPr id="7" name="Text 3"/>
          <p:cNvSpPr/>
          <p:nvPr/>
        </p:nvSpPr>
        <p:spPr>
          <a:xfrm>
            <a:off x="457200" y="15087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00B4D8"/>
                </a:solidFill>
              </a:rPr>
              <a:t>Financial Analysis Report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457200" y="21945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NASDAQ / TSX: SHOP 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Ticker: SHOP  |  Sector: Technology / E-Commerce</a:t>
            </a:r>
          </a:p>
          <a:p>
            <a:pPr marL="0" indent="0" algn="l">
              <a:lnSpc>
                <a:spcPct val="140000"/>
              </a:lnSpc>
              <a:buNone/>
            </a:pPr>
            <a:r>
              <a:rPr lang="en-US" sz="1300" dirty="0">
                <a:solidFill>
                  <a:schemeClr val="bg1"/>
                </a:solidFill>
              </a:rPr>
              <a:t>Current Price: $114.84  |  Market Cap: ~$149.9B</a:t>
            </a:r>
          </a:p>
        </p:txBody>
      </p:sp>
      <p:sp>
        <p:nvSpPr>
          <p:cNvPr id="9" name="Text 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ED6F1"/>
                </a:solidFill>
              </a:rPr>
              <a:t>"Making commerce better for everyone"  —  Shopify Mission Statement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C7B0040-394B-2037-6587-54D40B6680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3382" y="731520"/>
            <a:ext cx="3025132" cy="343053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6" grpId="0" animBg="1"/>
      <p:bldP spid="1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502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92608" y="1033272"/>
            <a:ext cx="466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9052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Company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161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History, Mission, Vision, Values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673352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673352"/>
            <a:ext cx="502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" y="1837944"/>
            <a:ext cx="466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8680" y="17099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Key Leadership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2020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Executive Board &amp; Management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478024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478024"/>
            <a:ext cx="502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2642616"/>
            <a:ext cx="466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" y="2514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Current Operations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8254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Products, Revenue, Markets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282696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282696"/>
            <a:ext cx="502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2608" y="3447288"/>
            <a:ext cx="466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68680" y="3319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Growth &amp; Acquisitions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6301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Strategy, M&amp;A, Milestones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408736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87368"/>
            <a:ext cx="502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4251960"/>
            <a:ext cx="466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" y="41239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Industry &amp; Competition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Market Share, Competitors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868680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868680"/>
            <a:ext cx="502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033272"/>
            <a:ext cx="466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349240" y="90525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Financial Ratios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1216152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Profitability, Liquidity, Leverage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1673352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1673352"/>
            <a:ext cx="502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73168" y="1837944"/>
            <a:ext cx="466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07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49240" y="170992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CAPM &amp; Beta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2020824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Risk, Expected Return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2478024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2478024"/>
            <a:ext cx="502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73168" y="2642616"/>
            <a:ext cx="466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08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49240" y="2514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FCF &amp; WACC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2825496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Free Cash Flow, Valuation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54880" y="3282696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282696"/>
            <a:ext cx="502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3447288"/>
            <a:ext cx="466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09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5349240" y="331927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Monte Carlo &amp; Prophet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349240" y="363016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30/90-Day Forecasts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754880" y="4087368"/>
            <a:ext cx="42062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4087368"/>
            <a:ext cx="50292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4251960"/>
            <a:ext cx="466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10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349240" y="412394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D1B2A"/>
                </a:solidFill>
              </a:rPr>
              <a:t>Investment Recommendation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349240" y="44348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F8C8D"/>
                </a:solidFill>
              </a:rPr>
              <a:t>Buy / Hold / Sell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COMPANY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</a:rPr>
              <a:t>ABOUT SHOPIFY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00" b="1" dirty="0">
                <a:solidFill>
                  <a:srgbClr val="FFFFFF"/>
                </a:solidFill>
              </a:rPr>
              <a:t>Founded: </a:t>
            </a:r>
            <a:r>
              <a:rPr lang="en-US" sz="1100" dirty="0">
                <a:solidFill>
                  <a:srgbClr val="FFFFFF"/>
                </a:solidFill>
              </a:rPr>
              <a:t>2006, Ottawa, Ontario, Canada
</a:t>
            </a:r>
            <a:r>
              <a:rPr lang="en-US" sz="1100" b="1" dirty="0">
                <a:solidFill>
                  <a:srgbClr val="FFFFFF"/>
                </a:solidFill>
              </a:rPr>
              <a:t>Founders: </a:t>
            </a:r>
            <a:r>
              <a:rPr lang="en-US" sz="1100" dirty="0">
                <a:solidFill>
                  <a:srgbClr val="FFFFFF"/>
                </a:solidFill>
              </a:rPr>
              <a:t>Tobias Lutke, Daniel Weinand, Scott Lake
</a:t>
            </a:r>
            <a:r>
              <a:rPr lang="en-US" sz="1100" b="1" dirty="0">
                <a:solidFill>
                  <a:srgbClr val="FFFFFF"/>
                </a:solidFill>
              </a:rPr>
              <a:t>HQ: </a:t>
            </a:r>
            <a:r>
              <a:rPr lang="en-US" sz="1100" dirty="0">
                <a:solidFill>
                  <a:srgbClr val="FFFFFF"/>
                </a:solidFill>
              </a:rPr>
              <a:t>151 O'Connor Street, Ottawa, Canada
</a:t>
            </a:r>
            <a:r>
              <a:rPr lang="en-US" sz="1100" b="1" dirty="0">
                <a:solidFill>
                  <a:srgbClr val="FFFFFF"/>
                </a:solidFill>
              </a:rPr>
              <a:t>Exchanges: </a:t>
            </a:r>
            <a:r>
              <a:rPr lang="en-US" sz="1100" dirty="0">
                <a:solidFill>
                  <a:srgbClr val="FFFFFF"/>
                </a:solidFill>
              </a:rPr>
              <a:t>NASDAQ (SHOP) &amp; TSX (SHOP)
</a:t>
            </a:r>
            <a:r>
              <a:rPr lang="en-US" sz="1100" b="1" dirty="0">
                <a:solidFill>
                  <a:srgbClr val="FFFFFF"/>
                </a:solidFill>
              </a:rPr>
              <a:t>IPO: </a:t>
            </a:r>
            <a:r>
              <a:rPr lang="en-US" sz="1100" dirty="0">
                <a:solidFill>
                  <a:srgbClr val="FFFFFF"/>
                </a:solidFill>
              </a:rPr>
              <a:t>May 2015 at $17/share
</a:t>
            </a:r>
            <a:r>
              <a:rPr lang="en-US" sz="1100" b="1" dirty="0">
                <a:solidFill>
                  <a:srgbClr val="FFFFFF"/>
                </a:solidFill>
              </a:rPr>
              <a:t>Employees: </a:t>
            </a:r>
            <a:r>
              <a:rPr lang="en-US" sz="1100" dirty="0">
                <a:solidFill>
                  <a:srgbClr val="FFFFFF"/>
                </a:solidFill>
              </a:rPr>
              <a:t>~8,000+ globally
</a:t>
            </a:r>
            <a:r>
              <a:rPr lang="en-US" sz="1100" b="1" dirty="0">
                <a:solidFill>
                  <a:srgbClr val="FFFFFF"/>
                </a:solidFill>
              </a:rPr>
              <a:t>Merchants: </a:t>
            </a:r>
            <a:r>
              <a:rPr lang="en-US" sz="1100" dirty="0">
                <a:solidFill>
                  <a:srgbClr val="FFFFFF"/>
                </a:solidFill>
              </a:rPr>
              <a:t>5.5M+ across 175+ countries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0" y="804672"/>
            <a:ext cx="420624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0" y="804672"/>
            <a:ext cx="73152" cy="11887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896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86C1"/>
                </a:solidFill>
              </a:rPr>
              <a:t>MISSION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0" y="115214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Make commerce better for everyone, so businesses can focus on building and selling their products.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2130552"/>
            <a:ext cx="420624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0" y="2130552"/>
            <a:ext cx="73152" cy="1188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221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8449"/>
                </a:solidFill>
              </a:rPr>
              <a:t>VISION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0" y="247802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Power the future of global commerce — making entrepreneurship accessible to all, everywhere.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3456432"/>
            <a:ext cx="4206240" cy="1188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3456432"/>
            <a:ext cx="73152" cy="11887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35478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</a:rPr>
              <a:t>CORE VALUES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3803904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Empowering entrepreneurs  |  Innovation &amp; speed  |  Merchant-first culture  |  Simplicity &amp; scale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KEY LEADERSHIP &amp; EXECUTIVE BOARD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7" name="Text 5"/>
          <p:cNvSpPr/>
          <p:nvPr/>
        </p:nvSpPr>
        <p:spPr>
          <a:xfrm>
            <a:off x="1659287" y="126644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/>
              <a:t>Tobias Lutke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59287" y="15956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E86C1"/>
                </a:solidFill>
              </a:rPr>
              <a:t>CEO &amp; Co-Founder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3840480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86719" y="1924812"/>
            <a:ext cx="241526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/>
              <a:t>Founded Shopify in 2006 after building internal e-commerce tools for Snowdevil. Architect of Shopify's merchant-first culture and technical vision.</a:t>
            </a:r>
          </a:p>
        </p:txBody>
      </p:sp>
      <p:sp>
        <p:nvSpPr>
          <p:cNvPr id="11" name="Shape 9"/>
          <p:cNvSpPr/>
          <p:nvPr/>
        </p:nvSpPr>
        <p:spPr>
          <a:xfrm>
            <a:off x="4663440" y="804672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1033272"/>
            <a:ext cx="777240" cy="77724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09728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HF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075580" y="127567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Harley Finkelstein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75580" y="1604862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</a:rPr>
              <a:t>President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1828800"/>
            <a:ext cx="3840480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2256" y="1901952"/>
            <a:ext cx="256454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</a:rPr>
              <a:t>Joined 2010. Leads global merchant growth and partnerships. Known for 'businesses perform better on Shopify' — champion of entrepreneurship.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8600" y="2907792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AE" dirty="0"/>
          </a:p>
        </p:txBody>
      </p:sp>
      <p:sp>
        <p:nvSpPr>
          <p:cNvPr id="19" name="Shape 17"/>
          <p:cNvSpPr/>
          <p:nvPr/>
        </p:nvSpPr>
        <p:spPr>
          <a:xfrm>
            <a:off x="411480" y="3136392"/>
            <a:ext cx="777240" cy="7772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200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JH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644671" y="334670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Jeff Hoffmeister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44671" y="367588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E44AD"/>
                </a:solidFill>
              </a:rPr>
              <a:t>CFO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11480" y="3931920"/>
            <a:ext cx="3840480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44671" y="3941064"/>
            <a:ext cx="2499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</a:rPr>
              <a:t>Joined 2023 from Lazard. Oversees all financial strategy, capital allocation, and the $2B share repurchase program announced in 2026.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907792"/>
            <a:ext cx="4251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46320" y="3136392"/>
            <a:ext cx="777240" cy="7772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r>
              <a:rPr lang="en-US" dirty="0"/>
              <a:t>\</a:t>
            </a:r>
            <a:endParaRPr lang="en-AE" dirty="0"/>
          </a:p>
        </p:txBody>
      </p:sp>
      <p:sp>
        <p:nvSpPr>
          <p:cNvPr id="27" name="Text 25"/>
          <p:cNvSpPr/>
          <p:nvPr/>
        </p:nvSpPr>
        <p:spPr>
          <a:xfrm>
            <a:off x="4846320" y="3200400"/>
            <a:ext cx="777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12415" y="334007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Kaz Nejatian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112415" y="3669254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COO &amp; VP Product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0" y="3931920"/>
            <a:ext cx="3840480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26480" y="400507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</a:rPr>
              <a:t>Leads product development and operations. Architect of Shopify's AI commerce strategy including Sidekick AI assistant and UCP with Google.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4 / 22</a:t>
            </a:r>
            <a:endParaRPr lang="en-US" sz="900" dirty="0"/>
          </a:p>
        </p:txBody>
      </p:sp>
      <p:pic>
        <p:nvPicPr>
          <p:cNvPr id="34" name="Picture 33" descr="undefined">
            <a:extLst>
              <a:ext uri="{FF2B5EF4-FFF2-40B4-BE49-F238E27FC236}">
                <a16:creationId xmlns:a16="http://schemas.microsoft.com/office/drawing/2014/main" id="{70D2F756-25D4-D8F7-003C-4D757D9A794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135" t="11190" r="4891" b="15842"/>
          <a:stretch>
            <a:fillRect/>
          </a:stretch>
        </p:blipFill>
        <p:spPr>
          <a:xfrm>
            <a:off x="256032" y="859536"/>
            <a:ext cx="1403255" cy="1807486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8835FA0-75CB-619D-9EE3-BBA3C275CB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8818" y="863213"/>
            <a:ext cx="1449716" cy="181176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A1E6DD2C-0F2B-5B34-4DE6-96B6239536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032" y="2979951"/>
            <a:ext cx="1401877" cy="175234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0C6DEE79-28C6-D2DD-D3D9-A663BB1D149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7690" t="-2059" r="6934" b="2059"/>
          <a:stretch>
            <a:fillRect/>
          </a:stretch>
        </p:blipFill>
        <p:spPr>
          <a:xfrm>
            <a:off x="4705033" y="2908391"/>
            <a:ext cx="1410676" cy="18715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SHOPIFY'S JOURNEY — KEY MILESTONES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82296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542032"/>
            <a:ext cx="164592" cy="164592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15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2004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615034"/>
            <a:ext cx="1005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Founded as Snowdevil snowboard store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645920"/>
            <a:ext cx="0" cy="91440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883664" y="2542032"/>
            <a:ext cx="164592" cy="164592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36192" y="2715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2006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44752" y="2530501"/>
            <a:ext cx="1005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AED6F1"/>
                </a:solidFill>
              </a:rPr>
              <a:t>Shopify launched as SaaS platform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947672" y="2715768"/>
            <a:ext cx="0" cy="347472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962656" y="2542032"/>
            <a:ext cx="164592" cy="164592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15184" y="2715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2009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42031" y="512064"/>
            <a:ext cx="1005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App Store launched — 3rd party ecosystem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026664" y="1645920"/>
            <a:ext cx="0" cy="91440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4041648" y="2542032"/>
            <a:ext cx="164592" cy="164592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94176" y="2715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2013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602736" y="2530501"/>
            <a:ext cx="1005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AED6F1"/>
                </a:solidFill>
              </a:rPr>
              <a:t>Shopify Payments introduced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105656" y="2715768"/>
            <a:ext cx="0" cy="347472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120640" y="2542032"/>
            <a:ext cx="164592" cy="164592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2715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2015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0016" y="638887"/>
            <a:ext cx="1005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IPO on NYSE &amp; TSX at $17/share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184648" y="1645920"/>
            <a:ext cx="0" cy="91440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199632" y="2542032"/>
            <a:ext cx="164592" cy="164592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52160" y="2715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2019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760720" y="2530501"/>
            <a:ext cx="1005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AED6F1"/>
                </a:solidFill>
              </a:rPr>
              <a:t>Shopify Fulfillment Network launched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63640" y="2715768"/>
            <a:ext cx="0" cy="347472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7278624" y="2542032"/>
            <a:ext cx="164592" cy="164592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31152" y="2715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2022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839712" y="914400"/>
            <a:ext cx="1005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FFFFFF"/>
                </a:solidFill>
              </a:rPr>
              <a:t>Strategic pivot to asset-light model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7342632" y="1645920"/>
            <a:ext cx="0" cy="91440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8357616" y="2542032"/>
            <a:ext cx="164592" cy="164592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10144" y="2715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D03F"/>
                </a:solidFill>
              </a:rPr>
              <a:t>2025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918704" y="2530501"/>
            <a:ext cx="10058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dirty="0">
                <a:solidFill>
                  <a:srgbClr val="AED6F1"/>
                </a:solidFill>
              </a:rPr>
              <a:t>Revenue $11.56B · FCF $2B · UCP launch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421624" y="2715768"/>
            <a:ext cx="0" cy="347472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CURRENT OPERATIONS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4206240" cy="5029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503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SUBSCRIPTION SOLUTIONS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8503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25% of Revenue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" y="1481328"/>
            <a:ext cx="109728" cy="10972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Online store builder &amp; hosting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" y="1938528"/>
            <a:ext cx="109728" cy="10972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Point of Sale (POS) system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" y="2395728"/>
            <a:ext cx="109728" cy="10972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Shopify Markets (cross-border)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" y="2852928"/>
            <a:ext cx="109728" cy="10972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Shopify Shipping &amp; Capital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" y="3310128"/>
            <a:ext cx="109728" cy="10972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Revenue: ~$2.77B (+17% YoY)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804672"/>
            <a:ext cx="4206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04672"/>
            <a:ext cx="4206240" cy="5029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85039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MERCHANT SOLUTIONS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18120" y="850392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75% of Revenue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10328" y="1481328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93208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Shopify Payments (~68% of GMV)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10328" y="1938528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93208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Transaction &amp; processing fees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10328" y="2395728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93208" y="2331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Shop Pay installments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10328" y="2852928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93208" y="2788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Shopify Balance &amp; Capital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10328" y="3310128"/>
            <a:ext cx="109728" cy="10972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93208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2A"/>
                </a:solidFill>
              </a:rPr>
              <a:t>Revenue: ~$8.78B (+35% Q4 YoY)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4389120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65760" y="4355327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</a:rPr>
              <a:t>$378B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384048" y="4700613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GMV 2025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50592" y="4389120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65885" y="4354928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</a:rPr>
              <a:t>175+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2542032" y="46863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Countries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26864" y="4389120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18304" y="4347376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</a:rPr>
              <a:t>5.5M+</a:t>
            </a:r>
            <a:endParaRPr lang="en-US" sz="2800" dirty="0"/>
          </a:p>
        </p:txBody>
      </p:sp>
      <p:sp>
        <p:nvSpPr>
          <p:cNvPr id="40" name="Text 38"/>
          <p:cNvSpPr/>
          <p:nvPr/>
        </p:nvSpPr>
        <p:spPr>
          <a:xfrm>
            <a:off x="4700016" y="4690076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Merchants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03136" y="4389120"/>
            <a:ext cx="196596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894576" y="432352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86C1"/>
                </a:solidFill>
              </a:rPr>
              <a:t>21,000+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6881853" y="4701803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Apps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GROWTH STRATEGY, MERGERS &amp; ACQUISITIONS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804672"/>
            <a:ext cx="3383280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577840" y="969264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0" y="94183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↑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126480" y="877824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Organic Growth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126480" y="1170432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Platform-driven flywheel: more merchants → more apps → more data → better products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0" y="1828800"/>
            <a:ext cx="3383280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577840" y="1993392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577840" y="19659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⊕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126480" y="19019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Key Acquisitions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126480" y="21945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Deliverr (2022, logistics), 6 River Systems (2019), Handshake (B2B wholesale)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0" y="2852928"/>
            <a:ext cx="3383280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3017520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577840" y="2990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✦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126480" y="2926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Strategic Pivot (2023)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26480" y="3218688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Divested Shopify Logistics to Flexport — asset-light model → FCF margins expanded to 17%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86400" y="3877056"/>
            <a:ext cx="3383280" cy="89611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77840" y="4041648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77840" y="40142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$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6126480" y="395020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$2B Buyback (2026)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126480" y="4242816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 dirty="0">
                <a:solidFill>
                  <a:srgbClr val="FFFFFF"/>
                </a:solidFill>
              </a:rPr>
              <a:t>First share repurchase program signals financial maturity and FCF strength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74320" y="4114800"/>
            <a:ext cx="155448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320040" y="4160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D03F"/>
                </a:solidFill>
              </a:rPr>
              <a:t>$905M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320040" y="449884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FCF 2023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993392" y="4114800"/>
            <a:ext cx="155448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2039112" y="4160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D03F"/>
                </a:solidFill>
              </a:rPr>
              <a:t>$1,597M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2039112" y="449884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FCF 2024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712464" y="4114800"/>
            <a:ext cx="155448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3758184" y="416052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D03F"/>
                </a:solidFill>
              </a:rPr>
              <a:t>$2,007M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3758184" y="449884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8C8D"/>
                </a:solidFill>
              </a:rPr>
              <a:t>FCF 2025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INDUSTRY &amp; COMPETITION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384048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0" y="804672"/>
          <a:ext cx="4663440" cy="17678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Company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Ticker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US Share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Revenue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Key Strength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</a:rPr>
                        <a:t>Shopify ★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SHOP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~30%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$11.6B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Ecosystem + Payments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WooCommerce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Private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~14%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N/A (free)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WordPress integration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Wix Stores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WIX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~23%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$1.7B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Design + SMB focus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BigCommerce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BIGC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~3%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$0.33B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Enterprise B2B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Squarespace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SQSP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~16%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$1.07B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Creative brands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297680" y="33375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Shopify's Competitive Advantages: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297680" y="365760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Network effects: 5.5M+ merchants + 21,000+ apps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Payments: Shop Pay 68% GMV penetration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Switching costs: payments, capital, data lock-in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AI leadership: Sidekick, UCP with Google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FINANCIAL RATIOS — PROFITABILITY (FY2025)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0" y="777240"/>
            <a:ext cx="3383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0" y="777240"/>
            <a:ext cx="64008" cy="6217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50992" y="81381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Gross Profit Margin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50992" y="108813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</a:rPr>
              <a:t>Gross Profit / Revenue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635240" y="85039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C1"/>
                </a:solidFill>
              </a:rPr>
              <a:t>48.1%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5650992" y="1289304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</a:rPr>
              <a:t>Keeps $0.48 of every $1 earned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5486400" y="1490472"/>
            <a:ext cx="3383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1490472"/>
            <a:ext cx="64008" cy="6217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50992" y="15270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Operating Margin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50992" y="180136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</a:rPr>
              <a:t>Operating Income / Revenue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635240" y="15636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C1"/>
                </a:solidFill>
              </a:rPr>
              <a:t>16.3%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5650992" y="2002536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</a:rPr>
              <a:t>Healthy; improving as scale grows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5486400" y="2203704"/>
            <a:ext cx="3383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2203704"/>
            <a:ext cx="64008" cy="62179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50992" y="2240280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Net Profit Margin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5650992" y="2514600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</a:rPr>
              <a:t>Net Income / Revenue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635240" y="22768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C1"/>
                </a:solidFill>
              </a:rPr>
              <a:t>10.7%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5650992" y="2715768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</a:rPr>
              <a:t>First fully profitable year at scale</a:t>
            </a:r>
            <a:endParaRPr lang="en-US" sz="750" dirty="0"/>
          </a:p>
        </p:txBody>
      </p:sp>
      <p:sp>
        <p:nvSpPr>
          <p:cNvPr id="23" name="Shape 20"/>
          <p:cNvSpPr/>
          <p:nvPr/>
        </p:nvSpPr>
        <p:spPr>
          <a:xfrm>
            <a:off x="5486400" y="2916936"/>
            <a:ext cx="3383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486400" y="2916936"/>
            <a:ext cx="64008" cy="6217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650992" y="2953512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Return on Assets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5650992" y="3227832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</a:rPr>
              <a:t>Net Income / Total Assets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635240" y="299008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449"/>
                </a:solidFill>
              </a:rPr>
              <a:t>8.1%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5650992" y="3429000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</a:rPr>
              <a:t>Efficient asset-light model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5486400" y="3630168"/>
            <a:ext cx="3383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486400" y="3630168"/>
            <a:ext cx="64008" cy="6217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650992" y="366674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Return on Equity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5650992" y="3941064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</a:rPr>
              <a:t>Net Income / Total Equity</a:t>
            </a:r>
            <a:endParaRPr lang="en-US" sz="800" dirty="0"/>
          </a:p>
        </p:txBody>
      </p:sp>
      <p:sp>
        <p:nvSpPr>
          <p:cNvPr id="33" name="Text 30"/>
          <p:cNvSpPr/>
          <p:nvPr/>
        </p:nvSpPr>
        <p:spPr>
          <a:xfrm>
            <a:off x="7635240" y="37033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449"/>
                </a:solidFill>
              </a:rPr>
              <a:t>9.1%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650992" y="4142232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</a:rPr>
              <a:t>Growing as profitability matures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5486400" y="4343400"/>
            <a:ext cx="338328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5486400" y="4343400"/>
            <a:ext cx="64008" cy="6217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650992" y="4379976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</a:rPr>
              <a:t>Earnings Per Share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5650992" y="465429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F8C8D"/>
                </a:solidFill>
              </a:rPr>
              <a:t>Net Income / Shares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7635240" y="44165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449"/>
                </a:solidFill>
              </a:rPr>
              <a:t>$0.94</a:t>
            </a:r>
            <a:endParaRPr lang="en-US" sz="1800" dirty="0"/>
          </a:p>
        </p:txBody>
      </p:sp>
      <p:sp>
        <p:nvSpPr>
          <p:cNvPr id="40" name="Text 37"/>
          <p:cNvSpPr/>
          <p:nvPr/>
        </p:nvSpPr>
        <p:spPr>
          <a:xfrm>
            <a:off x="5650992" y="4855464"/>
            <a:ext cx="31089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F8C8D"/>
                </a:solidFill>
              </a:rPr>
              <a:t>First scaled profitable EPS year</a:t>
            </a:r>
            <a:endParaRPr lang="en-US" sz="750" dirty="0"/>
          </a:p>
        </p:txBody>
      </p:sp>
      <p:sp>
        <p:nvSpPr>
          <p:cNvPr id="41" name="Text 38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FINANCIAL RATIOS — LIQUIDITY &amp; ADDITIONAL (FY2025)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LIQUIDITY RATIOS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11556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449"/>
                </a:solidFill>
              </a:rPr>
              <a:t>5.96x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08760" y="114300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Current Ratio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08760" y="139903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Current Assets / Current Liab.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508760" y="160020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</a:rPr>
              <a:t>Benchmark: &gt; 2.0x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74320" y="210312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4320" y="212140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449"/>
                </a:solidFill>
              </a:rPr>
              <a:t>5.94x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508760" y="21488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Quick Ratio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08760" y="240487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(Current Assets - Inventory) / CL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508760" y="260604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</a:rPr>
              <a:t>Benchmark: &gt; 1.0x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416052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12724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E8449"/>
                </a:solidFill>
              </a:rPr>
              <a:t>1.10x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1546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Cash Ratio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3410712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7F8C8D"/>
                </a:solidFill>
              </a:rPr>
              <a:t>Cash / Current Liabilities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508760" y="36118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8449"/>
                </a:solidFill>
              </a:rPr>
              <a:t>Benchmark: &gt; 0.5x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663440" y="77724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ADDITIONAL RATIOS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109728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1097280"/>
            <a:ext cx="64008" cy="86868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113385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P/E Ratio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113385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8E44AD"/>
                </a:solidFill>
              </a:rPr>
              <a:t>122x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828032" y="140817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F8C8D"/>
                </a:solidFill>
              </a:rPr>
              <a:t>Stock Price / EPS = $114.84 / $0.94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F8C8D"/>
                </a:solidFill>
              </a:rPr>
              <a:t>Premium valuation — investors pay for 30%+ growth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663440" y="210312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103120"/>
            <a:ext cx="64008" cy="86868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1396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Dividend Payout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83680" y="213969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2E86C1"/>
                </a:solidFill>
              </a:rPr>
              <a:t>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828032" y="241401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F8C8D"/>
                </a:solidFill>
              </a:rPr>
              <a:t>No dividends paid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F8C8D"/>
                </a:solidFill>
              </a:rPr>
              <a:t>$2B share buyback program instead (Feb 2026)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10896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3108960"/>
            <a:ext cx="64008" cy="86868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1455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Debt-to-Equity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83680" y="314553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1E8449"/>
                </a:solidFill>
              </a:rPr>
              <a:t>0.01x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828032" y="341985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F8C8D"/>
                </a:solidFill>
              </a:rPr>
              <a:t>Total Debt / Total Equity = $188M / $13,473M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F8C8D"/>
                </a:solidFill>
              </a:rPr>
              <a:t>Ultra-low leverage — fortress balance sheet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4114800"/>
            <a:ext cx="42062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4114800"/>
            <a:ext cx="64008" cy="868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415137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Sustainable Growth Rate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583680" y="4151376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00B4D8"/>
                </a:solidFill>
              </a:rPr>
              <a:t>9.1%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4828032" y="4425696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F8C8D"/>
                </a:solidFill>
              </a:rPr>
              <a:t>ROE x (1 - Payout) = 9.1% x 1.0</a:t>
            </a:r>
            <a:endParaRPr lang="en-US" sz="8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850" dirty="0">
                <a:solidFill>
                  <a:srgbClr val="7F8C8D"/>
                </a:solidFill>
              </a:rPr>
              <a:t>Can grow 9.1% using own profits alone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CAPM &amp; BETA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41148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6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</a:rPr>
              <a:t>WHAT IS CAPM?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</a:rPr>
              <a:t>The Capital Asset Pricing Model establishes the relationship between systematic risk and expected return. It determines the minimum return investors should demand for holding a risky asset.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3657600" cy="6858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148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Re = Rf + β × (Rm − Rf)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D03F"/>
                </a:solidFill>
              </a:rPr>
              <a:t>Re =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43000" y="28346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Expected Return (CAPM Output)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21868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D03F"/>
                </a:solidFill>
              </a:rPr>
              <a:t>Rf =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43000" y="321868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4.43% — 10-yr US Treasury Yield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60273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D03F"/>
                </a:solidFill>
              </a:rPr>
              <a:t>β =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602736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2.32 — Calculated via Slope Regression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986784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D03F"/>
                </a:solidFill>
              </a:rPr>
              <a:t>Rm =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43000" y="3986784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12.5% — S&amp;P 500 avg (last 10 years)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3708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D03F"/>
                </a:solidFill>
              </a:rPr>
              <a:t>Rm-Rf =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" y="437083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8.07% — Equity Risk Premium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804672"/>
            <a:ext cx="201168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5488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74C3C"/>
                </a:solidFill>
              </a:rPr>
              <a:t>2.32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754880" y="16093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Beta (β)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937760" y="1901952"/>
            <a:ext cx="1463040" cy="1828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197510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</a:rPr>
              <a:t>Regression slope method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</a:rPr>
              <a:t>High volatility vs market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858000" y="804672"/>
            <a:ext cx="201168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0" y="10058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86C1"/>
                </a:solidFill>
              </a:rPr>
              <a:t>4.43%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949440" y="16093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Risk-Free Rate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32320" y="1901952"/>
            <a:ext cx="1463040" cy="182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49440" y="197510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</a:rPr>
              <a:t>10-yr US Treasury yield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</a:rPr>
              <a:t>As of April 2026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63440" y="2816352"/>
            <a:ext cx="201168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3017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2E86C1"/>
                </a:solidFill>
              </a:rPr>
              <a:t>12.5%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4754880" y="36210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Market Return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3913632"/>
            <a:ext cx="1463040" cy="18288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98678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</a:rPr>
              <a:t>S&amp;P 500 avg last 10 years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</a:rPr>
              <a:t>Annualized return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58000" y="2816352"/>
            <a:ext cx="2011680" cy="17830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49440" y="30175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4D03F"/>
                </a:solidFill>
              </a:rPr>
              <a:t>23%</a:t>
            </a:r>
            <a:endParaRPr lang="en-US" sz="3400" dirty="0"/>
          </a:p>
        </p:txBody>
      </p:sp>
      <p:sp>
        <p:nvSpPr>
          <p:cNvPr id="36" name="Text 34"/>
          <p:cNvSpPr/>
          <p:nvPr/>
        </p:nvSpPr>
        <p:spPr>
          <a:xfrm>
            <a:off x="6949440" y="36210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Expected Return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132320" y="3913632"/>
            <a:ext cx="1463040" cy="18288"/>
          </a:xfrm>
          <a:prstGeom prst="rect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49440" y="3986784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</a:rPr>
              <a:t>Re = 4.43% + 2.32 × 8.07%</a:t>
            </a:r>
            <a:endParaRPr lang="en-US" sz="8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800" dirty="0">
                <a:solidFill>
                  <a:srgbClr val="AAAAAA"/>
                </a:solidFill>
              </a:rPr>
              <a:t>Investors demand this return!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663440" y="4709160"/>
            <a:ext cx="429768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754880" y="47365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F4D03F"/>
                </a:solidFill>
              </a:rPr>
              <a:t>Beta 2.32 = SHOP moves 2.32% for every 1% market move — HIGH RISK, HIGH REWARD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FREE CASH FLOW ANALYSIS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50292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3767328"/>
            <a:ext cx="5029200" cy="59436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65760" y="384048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FCF = Cash Flow from Operations − Capital Expenditures</a:t>
            </a:r>
            <a:endParaRPr lang="en-US" sz="11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560025"/>
              </p:ext>
            </p:extLst>
          </p:nvPr>
        </p:nvGraphicFramePr>
        <p:xfrm>
          <a:off x="5212080" y="731520"/>
          <a:ext cx="3931920" cy="12192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Year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CFO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CapEx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FCF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Margin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FY2022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(-$276M)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$98M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</a:rPr>
                        <a:t>($374M)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</a:rPr>
                        <a:t>Neg.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FY2023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$944M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$39M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$905M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12.8%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FY2024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$1,616M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$19M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$1,597M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18.0%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FY2025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$2,033M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$26M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$2,007M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17.4%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0" y="2852928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KEY TAKEAWAYS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5486400" y="3127248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FCF grew 122% in 2 years: $905M → $2,007M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Consistent 17-18% FCF margin at scale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$2B buyback signals financial maturity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0D1B2A"/>
                </a:solidFill>
              </a:rPr>
              <a:t>Almost zero CapEx — pure software model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WACC &amp; DCF INTRINSIC VALUE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294436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WACC FORMULA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3657600" cy="5486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252728"/>
            <a:ext cx="3657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WACC = E/V × Re + D/V × Rd × (1-T)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810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Re (Cost of Equity)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63240" y="18105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B4D8"/>
                </a:solidFill>
              </a:rPr>
              <a:t>12.0%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Rd (Cost of Debt)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063240" y="21305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B4D8"/>
                </a:solidFill>
              </a:rPr>
              <a:t>3.0%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Tax Rate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63240" y="245059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B4D8"/>
                </a:solidFill>
              </a:rPr>
              <a:t>18.4%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7706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Weight of Equity (E/V)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63240" y="277063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B4D8"/>
                </a:solidFill>
              </a:rPr>
              <a:t>98.6%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0906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Weight of Debt (D/V)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63240" y="309067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00B4D8"/>
                </a:solidFill>
              </a:rPr>
              <a:t>1.4%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4107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D03F"/>
                </a:solidFill>
              </a:rPr>
              <a:t>WACC Result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063240" y="341071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4D03F"/>
                </a:solidFill>
              </a:rPr>
              <a:t>11.9%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572000" y="777240"/>
          <a:ext cx="42976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Shape 18"/>
          <p:cNvSpPr/>
          <p:nvPr/>
        </p:nvSpPr>
        <p:spPr>
          <a:xfrm>
            <a:off x="4572000" y="3154680"/>
            <a:ext cx="429768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663440" y="31729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Sum of PV FCFs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7406640" y="31729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$13,725M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572000" y="3429000"/>
            <a:ext cx="429768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4663440" y="34472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Terminal Value (PV)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406640" y="34472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$40,812M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572000" y="3703320"/>
            <a:ext cx="429768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4663440" y="372160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Total Firm Value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406640" y="372160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$54,537M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4572000" y="3977640"/>
            <a:ext cx="429768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4663440" y="399592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Less: Total Debt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406640" y="399592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($188M)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4572000" y="4251960"/>
            <a:ext cx="429768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4663440" y="427024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Equity Value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7406640" y="427024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FFFFFF"/>
                </a:solidFill>
              </a:rPr>
              <a:t>$54,349M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4572000" y="4526280"/>
            <a:ext cx="4297680" cy="24688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4663440" y="454456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D03F"/>
                </a:solidFill>
              </a:rPr>
              <a:t>Intrinsic Value/Share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7406640" y="454456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4D03F"/>
                </a:solidFill>
              </a:rPr>
              <a:t>$41.68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572000" y="4800600"/>
            <a:ext cx="4297680" cy="24688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0" name="Text 37"/>
          <p:cNvSpPr/>
          <p:nvPr/>
        </p:nvSpPr>
        <p:spPr>
          <a:xfrm>
            <a:off x="4663440" y="48188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Market Price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406640" y="4818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</a:rPr>
              <a:t>$114.84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274320" y="3950208"/>
            <a:ext cx="4114800" cy="10332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Text 40"/>
          <p:cNvSpPr/>
          <p:nvPr/>
        </p:nvSpPr>
        <p:spPr>
          <a:xfrm>
            <a:off x="274320" y="4032106"/>
            <a:ext cx="3923969" cy="8782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AAAAAA"/>
                </a:solidFill>
              </a:rPr>
              <a:t>Note: Intrinsic value of $41.68 vs market price $114.84 reflects the market pricing in sustained 30%+ growth beyond our 5-year model. This is common for high-growth tech stocks.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8549640" y="4965788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STOCK PRICE TECHNICAL ANALYSIS (Last 12 Months)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943600" cy="320040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-1864981" y="89611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Stock Price Chart + </a:t>
            </a:r>
          </a:p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Moving Averages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0" y="804672"/>
            <a:ext cx="12070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896112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C1"/>
                </a:solidFill>
              </a:rPr>
              <a:t>$114.84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46520" y="133502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Current Price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7699248" y="804672"/>
            <a:ext cx="12070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44968" y="896112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449"/>
                </a:solidFill>
              </a:rPr>
              <a:t>$179.01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44968" y="133502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52-Wk High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400800" y="1856232"/>
            <a:ext cx="12070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947672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</a:rPr>
              <a:t>$76.89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446520" y="238658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52-Wk Low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99248" y="1856232"/>
            <a:ext cx="12070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44968" y="1947672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449"/>
                </a:solidFill>
              </a:rPr>
              <a:t>+23.9%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744968" y="238658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Annual Return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00800" y="2907792"/>
            <a:ext cx="12070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46520" y="2999232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</a:rPr>
              <a:t>60.9%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46520" y="343814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Ann. Volatility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699248" y="2907792"/>
            <a:ext cx="1207008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44968" y="2999232"/>
            <a:ext cx="11155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74C3C"/>
                </a:solidFill>
              </a:rPr>
              <a:t>2.32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744968" y="3438144"/>
            <a:ext cx="11155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Beta (β)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4069080"/>
            <a:ext cx="5943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13308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Technical Signal Interpretation: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4407408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8C8D"/>
                </a:solidFill>
              </a:rPr>
              <a:t>SHOP hit a 52-week high of $179.01 in October 2025 (+129% from April 2025 low of $76.89). The stock has since pulled back ~37% to $114.84. The 20-Day MA has crossed below the 50-Day MA — a BEARISH technical signal suggesting near-term consolidation before the next leg up.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400800" y="4069080"/>
            <a:ext cx="2542032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46520" y="4187952"/>
            <a:ext cx="2377440" cy="608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D1B2A"/>
                </a:solidFill>
              </a:rPr>
              <a:t>20-Day MA: </a:t>
            </a:r>
            <a:r>
              <a:rPr lang="en-US" sz="900" dirty="0">
                <a:solidFill>
                  <a:srgbClr val="E74C3C"/>
                </a:solidFill>
              </a:rPr>
              <a:t>$128.45 (above price — bearish)
</a:t>
            </a:r>
            <a:r>
              <a:rPr lang="en-US" sz="900" b="1" dirty="0">
                <a:solidFill>
                  <a:srgbClr val="0D1B2A"/>
                </a:solidFill>
              </a:rPr>
              <a:t>50-Day MA: </a:t>
            </a:r>
            <a:r>
              <a:rPr lang="en-US" sz="900" dirty="0">
                <a:solidFill>
                  <a:srgbClr val="E74C3C"/>
                </a:solidFill>
              </a:rPr>
              <a:t>$148.22 (above price — bearish)
</a:t>
            </a:r>
            <a:r>
              <a:rPr lang="en-US" sz="900" b="1" dirty="0">
                <a:solidFill>
                  <a:srgbClr val="0D1B2A"/>
                </a:solidFill>
              </a:rPr>
              <a:t>Signal: </a:t>
            </a:r>
            <a:r>
              <a:rPr lang="en-US" sz="900" dirty="0">
                <a:solidFill>
                  <a:srgbClr val="7F8C8D"/>
                </a:solidFill>
              </a:rPr>
              <a:t>Near-term consolidation expected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14 / 22</a:t>
            </a:r>
            <a:endParaRPr lang="en-US" sz="9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5ACE193A-9965-D3A1-9D79-D35AF89C6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6603" y="789051"/>
            <a:ext cx="4478161" cy="31756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78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MONTE CARLO SIMULATION — 1000 RUNS, 30 DAYS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669280" cy="3474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646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Monte Carlo Simulation Chart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777240"/>
            <a:ext cx="274320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868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WHAT IS MONTE CARLO?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117043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Simulates 1,000 possible future price paths using historical daily drift and volatility. Each path represents one possible 30-day future for SHOP.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2468880"/>
            <a:ext cx="27432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24963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Current Price: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18120" y="249631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$118.31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926080"/>
            <a:ext cx="27432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29535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Mean Forecast: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18120" y="295351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D03F"/>
                </a:solidFill>
              </a:rPr>
              <a:t>$116.54</a:t>
            </a:r>
          </a:p>
        </p:txBody>
      </p:sp>
      <p:sp>
        <p:nvSpPr>
          <p:cNvPr id="16" name="Shape 14"/>
          <p:cNvSpPr/>
          <p:nvPr/>
        </p:nvSpPr>
        <p:spPr>
          <a:xfrm>
            <a:off x="6126480" y="3383280"/>
            <a:ext cx="27432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34107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Best Case (95th):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18120" y="341071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8449"/>
                </a:solidFill>
              </a:rPr>
              <a:t>$174.86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27432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38679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Worst Case (5th):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18120" y="386791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74C3C"/>
                </a:solidFill>
              </a:rPr>
              <a:t>$88.13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4297680"/>
            <a:ext cx="27432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43251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Prob. of Gain: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18120" y="432511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</a:rPr>
              <a:t>59.0%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566928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40740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</a:rPr>
              <a:t>Parameters: Simulations = 1,000  |  Horizon = 30 trading days  |  Model = Geometric Brownian Motion  |  Daily Drift (μ) = 0.095%  |  Daily Sigma (σ) = 3.84%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15 / 22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E33CBAD-CFB6-DD1E-8C22-51E50DD282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17" y="1382750"/>
            <a:ext cx="5184042" cy="25752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FB PROPHET FORECAST — 90 DAYS AHEAD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669280" cy="3474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94829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FB Prophet Forecast Chart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126480" y="777240"/>
            <a:ext cx="2743200" cy="160020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63640" y="8686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</a:rPr>
              <a:t>WHAT IS FB PROPHET?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63640" y="1170432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950" dirty="0">
                <a:solidFill>
                  <a:srgbClr val="FFFFFF"/>
                </a:solidFill>
              </a:rPr>
              <a:t>Facebook's open-source time-series forecasting tool. Detects trend, weekly seasonality, and yearly patterns to generate probabilistic forecasts with confidence intervals.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26480" y="2468880"/>
            <a:ext cx="27432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24963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Current Price: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818120" y="249631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</a:rPr>
              <a:t>$118.31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2926080"/>
            <a:ext cx="27432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63640" y="29535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90-Day Forecast: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818120" y="295351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D03F"/>
                </a:solidFill>
              </a:rPr>
              <a:t>$132.27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383280"/>
            <a:ext cx="27432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34107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Upper Bound: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18120" y="341071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E8449"/>
                </a:solidFill>
              </a:rPr>
              <a:t>$138.67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840480"/>
            <a:ext cx="27432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38679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Lower Bound: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18120" y="386791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74C3C"/>
                </a:solidFill>
              </a:rPr>
              <a:t>$125.39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4297680"/>
            <a:ext cx="2743200" cy="3840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63640" y="4325112"/>
            <a:ext cx="1554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AAAA"/>
                </a:solidFill>
              </a:rPr>
              <a:t>Expected Upside: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818120" y="4325112"/>
            <a:ext cx="960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</a:rPr>
              <a:t>+11.8%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4343400"/>
            <a:ext cx="5669280" cy="5486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40740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AAAAA"/>
                </a:solidFill>
              </a:rPr>
              <a:t>Prophet detected strong weekly seasonality in SHOP trading patterns. The 90-day forecast confidence interval of $125.39-$138.67 is tighter than Monte Carlo's range, reflecting trend-based estimation rather than pure statistical simulation.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16 / 22</a:t>
            </a:r>
            <a:endParaRPr lang="en-US" sz="900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319BA44F-D6EC-BF37-8DDA-7507853C6D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70192"/>
            <a:ext cx="5410877" cy="268790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MONTE CARLO vs PROPHET — FORECAST COMPARISON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49808"/>
          <a:ext cx="53035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804672"/>
          <a:ext cx="3200400" cy="24079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Monte Carlo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FB Prophet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84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Horizon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30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90 days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Mean Forecast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$126.25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$132.27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Upper Bound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$174.86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$138.67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Lower Bound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$88.13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$125.39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Upside from Current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+6.7%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+11.8%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Geometric Brownian Motion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Trend + Seasonality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Signal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59% prob. gain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E8449"/>
                          </a:solidFill>
                        </a:rPr>
                        <a:t>Upward trend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760720" y="4160520"/>
            <a:ext cx="3200400" cy="914400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5852160" y="4224528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5852160" y="4480560"/>
            <a:ext cx="30175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7F8C8D"/>
                </a:solidFill>
              </a:rPr>
              <a:t>Both models agree: SHOP is expected to recover from recent lows. Monte Carlo shows wider uncertainty while Prophet shows a steadier upward trend. Both support a BUY recommendation.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MACROECONOMIC ENVIRONMENT &amp; INDUSTRY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28163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8912" y="969264"/>
            <a:ext cx="502920" cy="5029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8912" y="969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↑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24128" y="9875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2A"/>
                </a:solidFill>
              </a:rPr>
              <a:t>Global E-Commerce Growth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8912" y="1554480"/>
            <a:ext cx="2487168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645920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</a:rPr>
              <a:t>Global e-commerce projected to exceed $6 trillion in 2025 (~20% of total retail). Structural tailwind for Shopify as underlying infrastructure provider.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18688" y="804672"/>
            <a:ext cx="28163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969264"/>
            <a:ext cx="502920" cy="50292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969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968496" y="9875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2A"/>
                </a:solidFill>
              </a:rPr>
              <a:t>AI Commerce Revolution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83280" y="1554480"/>
            <a:ext cx="2487168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1645920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</a:rPr>
              <a:t>AI orders on Shopify up 15x since Jan 2025. UCP with Google positions Shopify as the backbone of AI-driven commerce transactions globally.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63056" y="804672"/>
            <a:ext cx="28163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27648" y="969264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27648" y="969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912864" y="987552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2A"/>
                </a:solidFill>
              </a:rPr>
              <a:t>Interest Rate Environment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27648" y="1554480"/>
            <a:ext cx="2487168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1645920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</a:rPr>
              <a:t>Elevated rates (4.43% risk-free) increase borrowing costs for SMB merchants. However, Shopify's asset-light model insulates it from direct rate exposure.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74320" y="2889504"/>
            <a:ext cx="28163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" y="3054096"/>
            <a:ext cx="502920" cy="50292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⚠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24128" y="307238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2A"/>
                </a:solidFill>
              </a:rPr>
              <a:t>Tariff &amp; Trade Policy Risk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8912" y="3639312"/>
            <a:ext cx="2487168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73075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</a:rPr>
              <a:t>US-Canada trade tensions and tariff uncertainty directly impact Shopify's North American merchant base. Management has flagged this as a key near-term risk.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18688" y="2889504"/>
            <a:ext cx="28163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383280" y="3054096"/>
            <a:ext cx="502920" cy="50292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0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◎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3968496" y="307238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2A"/>
                </a:solidFill>
              </a:rPr>
              <a:t>Social Commerce Expansion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83280" y="3639312"/>
            <a:ext cx="2487168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0" y="373075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</a:rPr>
              <a:t>TikTok, Instagram, YouTube integrations expanding. Shopify powers backend for social storefronts — capturing growing consumer shift to social shopping.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63056" y="2889504"/>
            <a:ext cx="2816352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327648" y="3054096"/>
            <a:ext cx="502920" cy="502920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30540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✓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6912864" y="3072384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D1B2A"/>
                </a:solidFill>
              </a:rPr>
              <a:t>SMB Resilience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27648" y="3639312"/>
            <a:ext cx="2487168" cy="18288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27648" y="3730752"/>
            <a:ext cx="248716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7F8C8D"/>
                </a:solidFill>
              </a:rPr>
              <a:t>President Finkelstein: 'businesses perform better on Shopify regardless of market conditions.' Platform stickiness proven through 2022-2023 downturn.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FINANCIAL SUMMARY DASHBOARD — FY2025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1645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4124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86C1"/>
                </a:solidFill>
              </a:rPr>
              <a:t>$11.56B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Revenue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55448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</a:rPr>
              <a:t>+30% YoY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984248" y="777240"/>
            <a:ext cx="1645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029968" y="84124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8449"/>
                </a:solidFill>
              </a:rPr>
              <a:t>$5.55B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029968" y="1325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Gross Profit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29968" y="155448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</a:rPr>
              <a:t>48.1% Margin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739896" y="777240"/>
            <a:ext cx="1645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785616" y="84124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E44AD"/>
                </a:solidFill>
              </a:rPr>
              <a:t>$1.89B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85616" y="1325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Operating Income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785616" y="155448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</a:rPr>
              <a:t>16.3% Margin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495544" y="777240"/>
            <a:ext cx="1645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541264" y="84124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</a:rPr>
              <a:t>$1.23B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41264" y="1325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Net Income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541264" y="155448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</a:rPr>
              <a:t>10.7% Margin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251192" y="777240"/>
            <a:ext cx="1645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296912" y="841248"/>
            <a:ext cx="1554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D03F"/>
                </a:solidFill>
              </a:rPr>
              <a:t>$2.01B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296912" y="132588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Free Cash Flow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296912" y="155448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8449"/>
                </a:solidFill>
              </a:rPr>
              <a:t>17.4% Margin</a:t>
            </a:r>
            <a:endParaRPr lang="en-US" sz="850" dirty="0"/>
          </a:p>
        </p:txBody>
      </p:sp>
      <p:graphicFrame>
        <p:nvGraphicFramePr>
          <p:cNvPr id="24" name="Chart 0"/>
          <p:cNvGraphicFramePr/>
          <p:nvPr/>
        </p:nvGraphicFramePr>
        <p:xfrm>
          <a:off x="228600" y="2084832"/>
          <a:ext cx="530352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5760720" y="2084832"/>
            <a:ext cx="15727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806440" y="213055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449"/>
                </a:solidFill>
              </a:rPr>
              <a:t>48.1%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5806440" y="248716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Gross Margin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424928" y="2084832"/>
            <a:ext cx="15727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470648" y="2130552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C1"/>
                </a:solidFill>
              </a:rPr>
              <a:t>16.3%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7470648" y="2487168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Operating Margin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760720" y="2798064"/>
            <a:ext cx="15727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5806440" y="284378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86C1"/>
                </a:solidFill>
              </a:rPr>
              <a:t>10.7%</a:t>
            </a:r>
            <a:endParaRPr lang="en-US" sz="1800" dirty="0"/>
          </a:p>
        </p:txBody>
      </p:sp>
      <p:sp>
        <p:nvSpPr>
          <p:cNvPr id="33" name="Text 30"/>
          <p:cNvSpPr/>
          <p:nvPr/>
        </p:nvSpPr>
        <p:spPr>
          <a:xfrm>
            <a:off x="5806440" y="320040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Net Margin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7424928" y="2798064"/>
            <a:ext cx="15727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2"/>
          <p:cNvSpPr/>
          <p:nvPr/>
        </p:nvSpPr>
        <p:spPr>
          <a:xfrm>
            <a:off x="7470648" y="2843784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449"/>
                </a:solidFill>
              </a:rPr>
              <a:t>5.96x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7470648" y="3200400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Current Ratio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760720" y="3511296"/>
            <a:ext cx="15727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5"/>
          <p:cNvSpPr/>
          <p:nvPr/>
        </p:nvSpPr>
        <p:spPr>
          <a:xfrm>
            <a:off x="5806440" y="355701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8E44AD"/>
                </a:solidFill>
              </a:rPr>
              <a:t>122x</a:t>
            </a:r>
            <a:endParaRPr lang="en-US" sz="1800" dirty="0"/>
          </a:p>
        </p:txBody>
      </p:sp>
      <p:sp>
        <p:nvSpPr>
          <p:cNvPr id="39" name="Text 36"/>
          <p:cNvSpPr/>
          <p:nvPr/>
        </p:nvSpPr>
        <p:spPr>
          <a:xfrm>
            <a:off x="5806440" y="391363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P/E Ratio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7424928" y="3511296"/>
            <a:ext cx="15727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7470648" y="3557016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8449"/>
                </a:solidFill>
              </a:rPr>
              <a:t>0.01x</a:t>
            </a:r>
            <a:endParaRPr lang="en-US" sz="1800" dirty="0"/>
          </a:p>
        </p:txBody>
      </p:sp>
      <p:sp>
        <p:nvSpPr>
          <p:cNvPr id="42" name="Text 39"/>
          <p:cNvSpPr/>
          <p:nvPr/>
        </p:nvSpPr>
        <p:spPr>
          <a:xfrm>
            <a:off x="7470648" y="3913632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D/E Ratio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760720" y="4224528"/>
            <a:ext cx="15727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5806440" y="427024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74C3C"/>
                </a:solidFill>
              </a:rPr>
              <a:t>2.32β</a:t>
            </a:r>
            <a:endParaRPr lang="en-US" sz="1800" dirty="0"/>
          </a:p>
        </p:txBody>
      </p:sp>
      <p:sp>
        <p:nvSpPr>
          <p:cNvPr id="45" name="Text 42"/>
          <p:cNvSpPr/>
          <p:nvPr/>
        </p:nvSpPr>
        <p:spPr>
          <a:xfrm>
            <a:off x="5806440" y="4626864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Beta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7424928" y="4224528"/>
            <a:ext cx="1572768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7470648" y="4270248"/>
            <a:ext cx="14813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D03F"/>
                </a:solidFill>
              </a:rPr>
              <a:t>23%</a:t>
            </a:r>
            <a:endParaRPr lang="en-US" sz="1800" dirty="0"/>
          </a:p>
        </p:txBody>
      </p:sp>
      <p:sp>
        <p:nvSpPr>
          <p:cNvPr id="48" name="Text 45"/>
          <p:cNvSpPr/>
          <p:nvPr/>
        </p:nvSpPr>
        <p:spPr>
          <a:xfrm>
            <a:off x="7470648" y="4626864"/>
            <a:ext cx="1481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7F8C8D"/>
                </a:solidFill>
              </a:rPr>
              <a:t>CAPM Return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INVESTMENT RECOMMENDATION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822960"/>
            <a:ext cx="2743200" cy="118872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0" y="841248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FFFFFF"/>
                </a:solidFill>
              </a:rPr>
              <a:t>BUY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3200400" y="166420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400" dirty="0">
                <a:solidFill>
                  <a:srgbClr val="A9DFBF"/>
                </a:solidFill>
              </a:rPr>
              <a:t>RECOMMENDATION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2121408"/>
            <a:ext cx="4251960" cy="12984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93192" y="2350008"/>
            <a:ext cx="475488" cy="47548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" y="2350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↑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" y="22585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</a:rPr>
              <a:t>Growth Potential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78408" y="25603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30%+ revenue growth — 3rd consecutive year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78408" y="27614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B2B GMV up 96% in FY2025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78408" y="296265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International revenue up 36% YoY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78408" y="316382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AI commerce: orders up 15x since Jan 2025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90872" y="2121408"/>
            <a:ext cx="4251960" cy="12984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55464" y="2350008"/>
            <a:ext cx="475488" cy="47548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55464" y="23500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!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40680" y="22585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74C3C"/>
                </a:solidFill>
              </a:rPr>
              <a:t>Risk Level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40680" y="256032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Beta 2.32 — high volatility vs market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440680" y="276148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CAPM expected return: 23%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440680" y="296265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Premium P/E of 122x requires sustained growth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440680" y="316382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Trade policy &amp; tariff risks are real headwinds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3538728"/>
            <a:ext cx="4251960" cy="12984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3192" y="3767328"/>
            <a:ext cx="475488" cy="475488"/>
          </a:xfrm>
          <a:prstGeom prst="ellipse">
            <a:avLst/>
          </a:prstGeom>
          <a:solidFill>
            <a:srgbClr val="F4D03F"/>
          </a:solidFill>
          <a:ln w="12700">
            <a:solidFill>
              <a:srgbClr val="F4D03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3192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$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78408" y="36758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D03F"/>
                </a:solidFill>
              </a:rPr>
              <a:t>Financial Strength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397764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$2.0B free cash flow (17.4% margin)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78408" y="417880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Current ratio 5.96x — fortress balance sheet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78408" y="437997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Debt-to-equity 0.01x — almost zero debt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978408" y="458114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$2B share buyback signals confidence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90872" y="3538728"/>
            <a:ext cx="4251960" cy="1298448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55464" y="3767328"/>
            <a:ext cx="475488" cy="47548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55464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★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40680" y="367588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8449"/>
                </a:solidFill>
              </a:rPr>
              <a:t>Long-Term Sustainability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440680" y="3977640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5.5M+ merchants — strong network effects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440680" y="4178808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21,000+ app ecosystem — high switching costs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440680" y="4379976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Universal Commerce Protocol with Google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440680" y="4581144"/>
            <a:ext cx="3337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</a:rPr>
              <a:t>• Market share growing in every geography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AAAAAA"/>
                </a:solidFill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REFERENCES &amp; DATA SOURCES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80467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Shopify Inc. (2026). Q4 &amp; Full Year 2025 Earnings Press Release. Retrieved from www.shopify.com/news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274320" y="1335024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2529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Shopify Inc. (2026). Annual Report on Form 10-K, FY2025. U.S. Securities and Exchange Commission. SEC EDGAR.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1755648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6459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Yahoo Finance. (2026). Shopify Inc. (SHOP) — Financial Statements, Stock Data, Key Statistics. finance.yahoo.com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06654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Macrotrends. (2026). Shopify Historical Revenue, FCF, and Margins. www.macrotrends.net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2596896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48716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U.S. Treasury Department. (2026). Daily Treasury Yield Curve Rates. home.treasury.gov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3017520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0779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Berk, J., &amp; DeMarzo, P. (2020). Corporate Finance (5th ed.). Pearson Education.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3438144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328416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Ross, S.A., Westerfield, R.W., &amp; Jordan, B.D. (2022). Fundamentals of Corporate Finance (13th ed.). McGraw-Hill.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3858768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7490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DemandSage. (2025). Shopify Market Share Statistics 2025. www.demandsage.com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4279392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169664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StockAnalysis. (2026). Shopify (SHOP) Statistics &amp; Valuation. stockanalysis.com/stocks/shop/statistics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4700016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59028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0D1B2A"/>
                </a:solidFill>
              </a:rPr>
              <a:t>Soax Research. (2025). E-Commerce Platform Market Share Report. soax.com/research/ecommerce-platform-market-share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412480" y="484632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F8C8D"/>
                </a:solidFill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B4D8"/>
                </a:solidFill>
              </a:rPr>
              <a:t>Shopify Inc. (SHOP)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2423160"/>
            <a:ext cx="36576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Recommendation: </a:t>
            </a:r>
            <a:r>
              <a:rPr lang="en-US" sz="1300" b="1" dirty="0">
                <a:solidFill>
                  <a:srgbClr val="1E8449"/>
                </a:solidFill>
              </a:rPr>
              <a:t>BUY  |  </a:t>
            </a:r>
            <a:r>
              <a:rPr lang="en-US" sz="1300" dirty="0">
                <a:solidFill>
                  <a:srgbClr val="FFFFFF"/>
                </a:solidFill>
              </a:rPr>
              <a:t>Target: $132–$163  |  Current: $114.84  |  Upside: ~15–42%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462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2553</Words>
  <Application>Microsoft Office PowerPoint</Application>
  <PresentationFormat>On-screen Show (16:9)</PresentationFormat>
  <Paragraphs>526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Shopify Inc. Financial Analysis — DAB401</dc:title>
  <dc:subject>PptxGenJS Presentation</dc:subject>
  <dc:creator>PptxGenJS</dc:creator>
  <cp:lastModifiedBy>Jobit James</cp:lastModifiedBy>
  <cp:revision>10</cp:revision>
  <dcterms:created xsi:type="dcterms:W3CDTF">2026-04-13T20:49:48Z</dcterms:created>
  <dcterms:modified xsi:type="dcterms:W3CDTF">2026-10-02T22:11:44Z</dcterms:modified>
</cp:coreProperties>
</file>